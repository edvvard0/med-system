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8" r:id="rId3"/>
    <p:sldId id="259" r:id="rId4"/>
    <p:sldId id="267" r:id="rId5"/>
    <p:sldId id="280" r:id="rId6"/>
    <p:sldId id="279" r:id="rId7"/>
    <p:sldId id="281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2" r:id="rId16"/>
    <p:sldId id="293" r:id="rId17"/>
    <p:sldId id="291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261" r:id="rId29"/>
    <p:sldId id="262" r:id="rId30"/>
    <p:sldId id="263" r:id="rId31"/>
    <p:sldId id="269" r:id="rId32"/>
    <p:sldId id="275" r:id="rId33"/>
    <p:sldId id="276" r:id="rId34"/>
    <p:sldId id="277" r:id="rId35"/>
    <p:sldId id="278" r:id="rId36"/>
    <p:sldId id="270" r:id="rId37"/>
    <p:sldId id="271" r:id="rId38"/>
    <p:sldId id="272" r:id="rId39"/>
    <p:sldId id="273" r:id="rId40"/>
    <p:sldId id="268" r:id="rId41"/>
    <p:sldId id="282" r:id="rId42"/>
    <p:sldId id="283" r:id="rId43"/>
  </p:sldIdLst>
  <p:sldSz cx="14630400" cy="8229600"/>
  <p:notesSz cx="8229600" cy="146304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Mono Medium" panose="00000009000000000000" pitchFamily="49" charset="0"/>
      <p:regular r:id="rId5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233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1915-D016-6EF7-AE3E-D4F3397C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3022E-F76E-B09B-729C-E488EFBBF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D4BDF-1A2F-5296-5511-937916921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32ABF-DE74-CB9E-BA14-E5FDBB63C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59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B9EC-B465-1F30-D069-98483F69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9CA88-C7BE-7871-C317-E195D2977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EF516-4F32-EEC7-7B53-9160CDA10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1ECD-F2B9-53C0-0F44-8D20DADEF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48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1E74-C884-E022-48BC-0E4F470D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41239-DC11-AE4C-C266-84C010B8D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81A13-1EAC-C7F4-DA79-DD93EECDE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9A796-9828-C48C-3962-B24889AED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15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604F-E4FA-CDB2-41CE-AF96C3E0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9D846-25CB-5B38-07CB-F0FF6BBBA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F8BBF-9B81-9EC0-46E0-2A931E8CF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35E26-194D-9BC8-7A0A-0A61E5318D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49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EF681-F2C5-2EE3-CB5F-4C9A50FA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5E8D0-66CC-0A4A-4D6F-D803F9EEF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99482-7E71-A2C1-D4C6-D1F0BDD54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E0EAE-CD38-E722-3E8D-B7039C7EC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91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9E09A-B7A2-E3FE-66B9-D1BA45A3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9CF10-6769-D330-2717-23A6F382F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A7937-7749-1608-76C9-C5013FADA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9F9FD-2680-3EE1-92FD-824543A4D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3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AB0B-ADFC-778F-593D-557B57C0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195C4-DDB5-F71D-FF23-85AE797ED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4942B-FE7E-65A6-9611-EFB3CBF3F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28A78-7D55-E6C0-853D-68F8758339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85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63EF-BB3E-84D2-3A08-7D88F1EB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FF92D-DC3B-43FF-F6E4-3C2CB3C68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2CA8D-D48D-6EC7-979B-827B75571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16DD1-E5E4-777F-C40A-9A0C7997E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2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1A95-327D-2963-82C5-57B51D8D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0A9D0-0978-42F7-C195-35965BC3D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4075F-66AA-CE46-84E5-6A3C856A9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16032-7761-6963-4141-66B679040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0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2FC4-52E3-FC9F-A222-C5AA857D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53977-2AE6-3511-6D42-BFEB72803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F0901-0215-76A6-4E0E-24F2F52F3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EFBC-8365-0D7A-24A3-9F4460AAB9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22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E597F-08A7-034A-FAC1-6621D67B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7C663-BC3A-54B5-C74C-5DCC51CD7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8B2F2-B587-4968-83E0-64064C269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17F47-8336-A57A-021C-3D4B0D227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99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BFCE-E67F-C2CC-B7C6-1460A1FC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601D5-7B00-ED69-8703-C91609629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5BDFF-72EE-8007-20A6-14CA184D4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0368A-DF8A-536D-385D-0A6D31026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40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5BAD-EC03-CCA7-20D4-A314D592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5A391-464C-7EF1-458C-9E669FD26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1EC32-6D29-DB36-B525-7965FFECA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E5EE1-BA31-989E-4F18-71733E805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59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B4E5-18D3-5FD9-B3B0-803D8968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A12BF-BF52-BD93-7797-D8FC99012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A6BDD-10D2-6F41-F694-E1308E711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37DF9-B34B-E53A-95D9-CB3D888AC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0555-4297-8C22-4BF4-F870B7E2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C416F-6BDD-8A34-48A2-7E5FADE24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F6D5A-6987-8DE2-2945-C30B4D8F3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4ED92-E7A5-C541-AA13-78DEE8FF2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3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8623-FA79-A589-E745-7B1B3EC0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C17EF-0523-3F05-BEEE-ED97EA504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3E77A-A855-AF10-4591-30B63B809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5D295-87A2-8512-84CA-7999377BD4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38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9ACF-263D-8030-2DDE-F2BB74F3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05AE1-AAD7-0C14-FADB-54A8F4985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805B5-1EFF-F65B-5406-0BBC928ED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E68B2-FC4B-2570-8DEA-39387F062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71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B302-8E8C-D5F8-E77C-2FEC9737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1C357-4867-A2C2-2B84-77095447E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A04BA-3E3A-6002-3682-8CBAB4960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026EE-735B-9E8B-F145-177B89E19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16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7E09-3A31-0BE8-93FB-4C13D4D1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F7EFE-FE34-68A6-9897-75885D871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E30B6-A5FE-BEA8-520B-112C6ADD7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232E5-B693-2A68-5F58-4D245BEEA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896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0F900-EA02-CE04-E7CB-74000B39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05ABE-763F-2B84-6300-ACC880DD6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F27BC-ECBA-19B1-B1BB-EA7B223F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7D7C3-344D-DF6E-A372-03871178E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78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A9A52-F7D4-D4A0-DDD2-59253380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93714-8265-C1A5-A22F-0A98B972A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00A9D-9A06-2FAF-41A1-48B1B574B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83956-39A3-D4ED-8340-E63FD2F8C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444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4F39-1D02-ACB8-DBA0-F2E650F5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7A946-0F60-4D2E-45DE-AE4122617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11BD9-5CC2-BB98-2EA1-E6BB10A73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0202A-D51F-A16B-BA7C-2858AB134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03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F89C-7F5C-2F82-31CC-564058D96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0E5C1-A721-DA42-9A50-ECE42B782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5DB48-ACBE-98C7-73B1-4179E486B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EF0A4-F5A8-AACF-A75F-127E3B498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65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37C6-0137-F905-4724-D0BE9F3A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B85BA-7E9D-1D14-2358-0602346AE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42CDD-9A3E-30EA-FB69-98DAFB7A5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88D2A-6C8E-3B77-7341-EC094A609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53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789D-D45B-FBDC-0491-401A7BEA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257E4-FDC9-40A7-5CD6-0BF5EE240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52DC7-D5BD-16DC-CCAA-EF0215B07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CECBE-572C-A60B-5A2D-5A5CBFE97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115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E4E1-1259-48A6-98CF-4195CE22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48382-7BD7-EBAA-5527-E612ACF7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291CA-3EF8-9ABD-8871-4EB161DF7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7FF7D-C18B-5AB0-B436-CA81C1399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251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B3E98-C455-C266-BF91-97C151FAF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B1878-CEF2-688A-18F7-644DC26EF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071DB-8A3E-40D5-FBB5-86C8594E1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90138-216B-26F3-8280-535EF2FAC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486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4BC2-FE07-DED5-7721-95CDDB7E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D3738-868C-8DDC-F031-9BFC3283C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E0DB2-1810-3D52-7AFD-4C0EF96A6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15154-0B19-C269-2AE5-AB8D8304E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068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E4262-5183-6F45-6E53-3994D6AA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1E9A5-8ACF-141E-0045-F9391403B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07890-A4B8-69EF-EFF2-9D1F9E035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62778-04AE-4D2B-EF2E-83388038C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977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5733-4726-C867-9DC7-59B707E0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53FF1-C15C-E3D2-3CFC-C40C7899B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E3090-7D04-9E86-042C-0515B015C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19F2A-9D5F-0D54-61BA-85A357A2E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664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DDCA-3C57-7284-6BB7-9F5E0AD3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3ED8B-81C4-ACA1-7981-8DBBE9F10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7B206-54E0-02DB-02BB-C613E91FA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DED63-6315-287B-B0B4-7B6DB4BCE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294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2DFA-B033-AB51-D89B-44A6A98E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44EB6-D5D0-39A1-6295-491FBAB04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61C52-5F22-5993-FD87-765EDB350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CF2A7-3A09-B3AF-86E7-5309ECB1A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06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ACF3-0F84-0012-B6E7-F835344C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4D0ED-9484-540F-5804-019338D72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4C868-7AEF-1244-DE49-5E7034F5D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B051B-C4A6-D4DE-FC4D-849E59676B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358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9D0F-2D7C-DB30-FD4F-C038FD2C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890E8-D5EC-965B-B1E2-E4908787E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6CEC5-4B8D-29AF-12DE-2510B9857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57D8E-C578-FC77-BF5C-632A4433D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195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16004-F2B7-04F0-F990-5B8E696E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D0EBA-9B2A-4F0A-8ABF-71AD3752F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F98A4-4D36-668C-6D18-BF753252C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D3FC3-B090-7998-8258-3ED9C764C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195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94F4-4B43-957B-BA0F-EF60B026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C1F93-52FB-8350-7F94-132EB02A5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FD28A-99C0-A30C-FBC7-8FCA09245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5C2EE-9BE4-02EB-446D-8B1AC115F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4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225" y="2912352"/>
            <a:ext cx="7942705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Медицинская Информационная Система (МИС</a:t>
            </a:r>
            <a:r>
              <a:rPr lang="ru-RU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)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63905"/>
            <a:ext cx="68048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Технологический Стек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81284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4253" y="19475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Бэкенд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44253" y="2437924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3.1</a:t>
            </a:r>
            <a:r>
              <a:rPr lang="ru-RU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FastAPI 0.100+, Uvicorn.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36780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4253" y="339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База данных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665387" y="3811428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14.x.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4252" y="48942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ORM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644252" y="5376693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SQLAlchemy 2.0.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477714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65387" y="64509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Дополнительно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665386" y="6921341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Pydantic</a:t>
            </a:r>
            <a:r>
              <a:rPr lang="ru-RU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v2, Alembic, Docker, Celery, Redis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1995" y="1122220"/>
            <a:ext cx="4837509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Запуск Системы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147390" y="2414981"/>
            <a:ext cx="34828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Клонирование репозитория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1147390" y="2884812"/>
            <a:ext cx="6015038" cy="599599"/>
          </a:xfrm>
          <a:prstGeom prst="roundRect">
            <a:avLst>
              <a:gd name="adj" fmla="val 4841"/>
            </a:avLst>
          </a:prstGeom>
          <a:solidFill>
            <a:srgbClr val="3D4D00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8" name="Text 5"/>
          <p:cNvSpPr/>
          <p:nvPr/>
        </p:nvSpPr>
        <p:spPr>
          <a:xfrm>
            <a:off x="1331223" y="3029831"/>
            <a:ext cx="564737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E5E0DF"/>
                </a:solidFill>
                <a:highlight>
                  <a:srgbClr val="3D4D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sz="15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https://github.com/Edvvard0/med_system.git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7390" y="3901896"/>
            <a:ext cx="241875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Docker Compose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147390" y="4434519"/>
            <a:ext cx="5744170" cy="599599"/>
          </a:xfrm>
          <a:prstGeom prst="roundRect">
            <a:avLst>
              <a:gd name="adj" fmla="val 4841"/>
            </a:avLst>
          </a:prstGeom>
          <a:solidFill>
            <a:srgbClr val="3D4D00"/>
          </a:solidFill>
          <a:ln/>
        </p:spPr>
      </p:sp>
      <p:sp>
        <p:nvSpPr>
          <p:cNvPr id="13" name="Text 10"/>
          <p:cNvSpPr/>
          <p:nvPr/>
        </p:nvSpPr>
        <p:spPr>
          <a:xfrm>
            <a:off x="1340867" y="4579537"/>
            <a:ext cx="5357217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highlight>
                  <a:srgbClr val="3D4D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 -d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59931" y="2454840"/>
            <a:ext cx="241875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Доступ к API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959931" y="2861461"/>
            <a:ext cx="543460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</a:t>
            </a:r>
            <a:r>
              <a:rPr lang="en-US" sz="1500" u="sng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</a:t>
            </a:r>
            <a:r>
              <a:rPr lang="en-US" sz="1500" u="sng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/docx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959931" y="3352504"/>
            <a:ext cx="377297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Автоматическая миграция БД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959931" y="3750686"/>
            <a:ext cx="514433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старте контейнера.</a:t>
            </a:r>
            <a:endParaRPr lang="en-US" sz="15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67EC9F6-D388-2311-F4A7-1FB487050FA9}"/>
              </a:ext>
            </a:extLst>
          </p:cNvPr>
          <p:cNvSpPr/>
          <p:nvPr/>
        </p:nvSpPr>
        <p:spPr>
          <a:xfrm>
            <a:off x="12732902" y="7772400"/>
            <a:ext cx="1808045" cy="36774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044C-E463-9E94-8827-83F04F74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F407E83-41AE-C65B-5E33-F33D406043D9}"/>
              </a:ext>
            </a:extLst>
          </p:cNvPr>
          <p:cNvSpPr/>
          <p:nvPr/>
        </p:nvSpPr>
        <p:spPr>
          <a:xfrm>
            <a:off x="12732902" y="7772400"/>
            <a:ext cx="1808045" cy="36774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9AD66C27-DA6F-EA58-B02E-2BB5E0FA9913}"/>
              </a:ext>
            </a:extLst>
          </p:cNvPr>
          <p:cNvSpPr/>
          <p:nvPr/>
        </p:nvSpPr>
        <p:spPr>
          <a:xfrm>
            <a:off x="3278573" y="884120"/>
            <a:ext cx="81315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</a:rPr>
              <a:t>Общая схема системы МИС</a:t>
            </a:r>
            <a:endParaRPr lang="en-US" sz="4450" dirty="0"/>
          </a:p>
        </p:txBody>
      </p:sp>
      <p:sp>
        <p:nvSpPr>
          <p:cNvPr id="18" name="Блок-схема: альтернативный процесс 17">
            <a:extLst>
              <a:ext uri="{FF2B5EF4-FFF2-40B4-BE49-F238E27FC236}">
                <a16:creationId xmlns:a16="http://schemas.microsoft.com/office/drawing/2014/main" id="{4077563F-1856-3BA1-6FE6-A6E739636862}"/>
              </a:ext>
            </a:extLst>
          </p:cNvPr>
          <p:cNvSpPr/>
          <p:nvPr/>
        </p:nvSpPr>
        <p:spPr>
          <a:xfrm>
            <a:off x="5391309" y="2919551"/>
            <a:ext cx="2623930" cy="138153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Система МИС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72F8CC0-39FB-1D5C-8106-622B2D65EE89}"/>
              </a:ext>
            </a:extLst>
          </p:cNvPr>
          <p:cNvCxnSpPr/>
          <p:nvPr/>
        </p:nvCxnSpPr>
        <p:spPr>
          <a:xfrm>
            <a:off x="3511474" y="3659938"/>
            <a:ext cx="1719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Цилиндр 21">
            <a:extLst>
              <a:ext uri="{FF2B5EF4-FFF2-40B4-BE49-F238E27FC236}">
                <a16:creationId xmlns:a16="http://schemas.microsoft.com/office/drawing/2014/main" id="{E98357CB-6070-DFDF-54E8-ED3612808F4D}"/>
              </a:ext>
            </a:extLst>
          </p:cNvPr>
          <p:cNvSpPr/>
          <p:nvPr/>
        </p:nvSpPr>
        <p:spPr>
          <a:xfrm>
            <a:off x="9066778" y="2837621"/>
            <a:ext cx="1282149" cy="127717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БД МИС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2828636-9B02-B3DC-36F8-DBBC013D147F}"/>
              </a:ext>
            </a:extLst>
          </p:cNvPr>
          <p:cNvSpPr/>
          <p:nvPr/>
        </p:nvSpPr>
        <p:spPr>
          <a:xfrm>
            <a:off x="6013174" y="5255169"/>
            <a:ext cx="1380199" cy="156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RabbitMQ</a:t>
            </a:r>
            <a:endParaRPr lang="ru-RU" sz="1600" dirty="0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A7E23FE6-A4FE-9323-230B-45C13F944E72}"/>
              </a:ext>
            </a:extLst>
          </p:cNvPr>
          <p:cNvCxnSpPr>
            <a:cxnSpLocks/>
          </p:cNvCxnSpPr>
          <p:nvPr/>
        </p:nvCxnSpPr>
        <p:spPr>
          <a:xfrm>
            <a:off x="7977568" y="3590442"/>
            <a:ext cx="1089210" cy="1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3165553-E122-92B7-0F44-D7E0B4FA70D3}"/>
              </a:ext>
            </a:extLst>
          </p:cNvPr>
          <p:cNvSpPr/>
          <p:nvPr/>
        </p:nvSpPr>
        <p:spPr>
          <a:xfrm>
            <a:off x="8112453" y="5434076"/>
            <a:ext cx="2812774" cy="1202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Аптека</a:t>
            </a:r>
          </a:p>
        </p:txBody>
      </p:sp>
      <p:sp>
        <p:nvSpPr>
          <p:cNvPr id="29" name="Цилиндр 28">
            <a:extLst>
              <a:ext uri="{FF2B5EF4-FFF2-40B4-BE49-F238E27FC236}">
                <a16:creationId xmlns:a16="http://schemas.microsoft.com/office/drawing/2014/main" id="{445BC808-F82B-117D-5196-1CA90C9E4847}"/>
              </a:ext>
            </a:extLst>
          </p:cNvPr>
          <p:cNvSpPr/>
          <p:nvPr/>
        </p:nvSpPr>
        <p:spPr>
          <a:xfrm>
            <a:off x="11765252" y="5312173"/>
            <a:ext cx="1520687" cy="156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БД Аптека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C68E84C-8EB2-F3C5-9F46-B1FAD2017EF0}"/>
              </a:ext>
            </a:extLst>
          </p:cNvPr>
          <p:cNvCxnSpPr>
            <a:cxnSpLocks/>
          </p:cNvCxnSpPr>
          <p:nvPr/>
        </p:nvCxnSpPr>
        <p:spPr>
          <a:xfrm>
            <a:off x="6483274" y="4350708"/>
            <a:ext cx="0" cy="904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4367B6BC-EEBD-470F-A28E-F35AA8C8A4C5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>
            <a:off x="7393373" y="6035389"/>
            <a:ext cx="719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CB216CC8-F7C6-626C-6D15-FE31F4A860C9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10861127" y="6092393"/>
            <a:ext cx="904125" cy="23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Овал 38">
            <a:extLst>
              <a:ext uri="{FF2B5EF4-FFF2-40B4-BE49-F238E27FC236}">
                <a16:creationId xmlns:a16="http://schemas.microsoft.com/office/drawing/2014/main" id="{0BF294E2-A5D8-ECA3-F216-7F1E7265453F}"/>
              </a:ext>
            </a:extLst>
          </p:cNvPr>
          <p:cNvSpPr/>
          <p:nvPr/>
        </p:nvSpPr>
        <p:spPr>
          <a:xfrm>
            <a:off x="2055688" y="2919559"/>
            <a:ext cx="1361661" cy="13815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250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E6E50-9FEE-D9DE-A13B-CEE52AC4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E394C1C-9611-961A-070E-617DBB1C398A}"/>
              </a:ext>
            </a:extLst>
          </p:cNvPr>
          <p:cNvSpPr/>
          <p:nvPr/>
        </p:nvSpPr>
        <p:spPr>
          <a:xfrm>
            <a:off x="4966780" y="1188697"/>
            <a:ext cx="5250645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Подсистема</a:t>
            </a:r>
            <a:r>
              <a:rPr lang="en-US" sz="4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МИС</a:t>
            </a:r>
            <a:endParaRPr lang="en-US" sz="4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1EA1C2E-E113-7B6D-686F-8962B1A6A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65DA9C-C6E6-580B-9340-320793E0EBCF}"/>
              </a:ext>
            </a:extLst>
          </p:cNvPr>
          <p:cNvSpPr txBox="1"/>
          <p:nvPr/>
        </p:nvSpPr>
        <p:spPr>
          <a:xfrm>
            <a:off x="9621078" y="6877878"/>
            <a:ext cx="24847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</a:rPr>
              <a:t>Схема БД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655EAA-DA5C-9CB1-7701-08B95A09B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704" y="2663687"/>
            <a:ext cx="3707295" cy="37072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82AFDB-BBDC-B0F4-BA7C-83E8FCB137B2}"/>
              </a:ext>
            </a:extLst>
          </p:cNvPr>
          <p:cNvSpPr txBox="1"/>
          <p:nvPr/>
        </p:nvSpPr>
        <p:spPr>
          <a:xfrm>
            <a:off x="1341782" y="5134927"/>
            <a:ext cx="5585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Главный сервис, с которым будут взаимодействовать как пациенты так и доктора.</a:t>
            </a:r>
          </a:p>
          <a:p>
            <a:r>
              <a:rPr lang="ru-RU" dirty="0">
                <a:solidFill>
                  <a:schemeClr val="bg1"/>
                </a:solidFill>
              </a:rPr>
              <a:t>На данный момент поддерживает 2 роди (пациент, доктор ), но </a:t>
            </a:r>
            <a:r>
              <a:rPr lang="ru-RU" dirty="0" err="1">
                <a:solidFill>
                  <a:schemeClr val="bg1"/>
                </a:solidFill>
              </a:rPr>
              <a:t>бд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разработанно</a:t>
            </a:r>
            <a:r>
              <a:rPr lang="ru-RU" dirty="0">
                <a:solidFill>
                  <a:schemeClr val="bg1"/>
                </a:solidFill>
              </a:rPr>
              <a:t> также с учетом добавления роли администратора.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F47B5-59E4-EB04-7FDB-7D04737DA835}"/>
              </a:ext>
            </a:extLst>
          </p:cNvPr>
          <p:cNvSpPr txBox="1"/>
          <p:nvPr/>
        </p:nvSpPr>
        <p:spPr>
          <a:xfrm>
            <a:off x="1341782" y="2663687"/>
            <a:ext cx="54565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Эта подсистема представляет собой реализацию медицинской информационной системы (МИС). Система разработана для управления потоком пациентов, включая регистрацию, госпитализацию и направление на лечебно-диагностические мероприятия.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379271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0A20B-5BF9-84B3-1B79-C39A313F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1080AB5-76A9-7722-898A-971C3C2618C8}"/>
              </a:ext>
            </a:extLst>
          </p:cNvPr>
          <p:cNvSpPr/>
          <p:nvPr/>
        </p:nvSpPr>
        <p:spPr>
          <a:xfrm>
            <a:off x="5036354" y="437711"/>
            <a:ext cx="5250645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Подсистема</a:t>
            </a:r>
            <a:r>
              <a:rPr lang="en-US" sz="4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МИС</a:t>
            </a:r>
            <a:endParaRPr lang="en-US" sz="4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9E9432-8CCD-7F92-EABE-24F92F751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B8BAD4-681F-BDA4-A387-2B66D4BF9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0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142BC-9086-5FBE-1468-59F442E7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3C7B75-7352-ED3F-D313-3635CC5C0932}"/>
              </a:ext>
            </a:extLst>
          </p:cNvPr>
          <p:cNvSpPr/>
          <p:nvPr/>
        </p:nvSpPr>
        <p:spPr>
          <a:xfrm>
            <a:off x="4996597" y="454696"/>
            <a:ext cx="5250645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000" dirty="0" err="1">
                <a:solidFill>
                  <a:schemeClr val="bg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Подсистема</a:t>
            </a:r>
            <a:r>
              <a:rPr lang="en-US" sz="2400" dirty="0">
                <a:solidFill>
                  <a:schemeClr val="bg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МИС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0FD9B65-E7B5-4CC4-CB40-19942C63A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5A8893-CDAC-429E-FB3B-155F883E2496}"/>
              </a:ext>
            </a:extLst>
          </p:cNvPr>
          <p:cNvSpPr txBox="1"/>
          <p:nvPr/>
        </p:nvSpPr>
        <p:spPr>
          <a:xfrm>
            <a:off x="5332343" y="1223243"/>
            <a:ext cx="39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Функционал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22760-373A-5B71-8F56-CCB145390F69}"/>
              </a:ext>
            </a:extLst>
          </p:cNvPr>
          <p:cNvSpPr txBox="1"/>
          <p:nvPr/>
        </p:nvSpPr>
        <p:spPr>
          <a:xfrm>
            <a:off x="1808923" y="2166974"/>
            <a:ext cx="1049572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Регистрация пациентов: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Веб-интерфейс для ввода данных о пациенте (ФИО, паспорт, страховой полис и т.д.).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Генерация уникального идентификатора медкарты. Для автоматической генерации я использовал UUID.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Генерация QR-кода для медкарты.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Подготовка документов: договор на обслуживание и согласие на обработку данных в формате .</a:t>
            </a:r>
            <a:r>
              <a:rPr lang="ru-RU" sz="2400" dirty="0" err="1">
                <a:solidFill>
                  <a:schemeClr val="bg1"/>
                </a:solidFill>
              </a:rPr>
              <a:t>docx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Прикрепление фото пациента при его регистрации.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Госпитализация: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Веб-интерфейс для ввода данных и записи на госпитализацию.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Отображение информации по коду госпитализации (диагноз, цель, отделение и т.д.).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Направление на лечебно-диагностические мероприятия: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866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273D-57D8-5B38-F017-D87CE09E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A938537-9F20-BC72-C504-2CD665054DD1}"/>
              </a:ext>
            </a:extLst>
          </p:cNvPr>
          <p:cNvSpPr/>
          <p:nvPr/>
        </p:nvSpPr>
        <p:spPr>
          <a:xfrm>
            <a:off x="5036354" y="437711"/>
            <a:ext cx="5250645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000" dirty="0" err="1">
                <a:solidFill>
                  <a:schemeClr val="bg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Подсистема</a:t>
            </a:r>
            <a:r>
              <a:rPr lang="en-US" sz="4000" dirty="0">
                <a:solidFill>
                  <a:schemeClr val="bg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МИС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10DC24B-6207-E02E-4586-16AE1F17A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D286C8-57D7-E32A-8F37-06EFACDF262E}"/>
              </a:ext>
            </a:extLst>
          </p:cNvPr>
          <p:cNvSpPr txBox="1"/>
          <p:nvPr/>
        </p:nvSpPr>
        <p:spPr>
          <a:xfrm>
            <a:off x="5565913" y="1226379"/>
            <a:ext cx="39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Функционал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0E696-3691-047C-796E-03B10DB6CB81}"/>
              </a:ext>
            </a:extLst>
          </p:cNvPr>
          <p:cNvSpPr txBox="1"/>
          <p:nvPr/>
        </p:nvSpPr>
        <p:spPr>
          <a:xfrm>
            <a:off x="1808923" y="2293950"/>
            <a:ext cx="1049572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Веб-интерфейс с авторизацией врача.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Просмотр данных пациента, работа с медкартой, формирование рецептов и направлений.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Авторизация и аутентификация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Для пациентов и для врачей есть как отдельные </a:t>
            </a:r>
            <a:r>
              <a:rPr lang="ru-RU" sz="2400" dirty="0" err="1">
                <a:solidFill>
                  <a:schemeClr val="bg1"/>
                </a:solidFill>
              </a:rPr>
              <a:t>эндпоинты</a:t>
            </a:r>
            <a:r>
              <a:rPr lang="ru-RU" sz="2400" dirty="0">
                <a:solidFill>
                  <a:schemeClr val="bg1"/>
                </a:solidFill>
              </a:rPr>
              <a:t> для авторизации так и </a:t>
            </a:r>
            <a:r>
              <a:rPr lang="ru-RU" sz="2400" dirty="0" err="1">
                <a:solidFill>
                  <a:schemeClr val="bg1"/>
                </a:solidFill>
              </a:rPr>
              <a:t>html</a:t>
            </a:r>
            <a:r>
              <a:rPr lang="ru-RU" sz="2400" dirty="0">
                <a:solidFill>
                  <a:schemeClr val="bg1"/>
                </a:solidFill>
              </a:rPr>
              <a:t> страница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Регистрация докторов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Отслеживание перемещений пациентов и докторов по больнице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Отслеживание коечных мест стационара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</a:rPr>
              <a:t>Получение списка как вообще всех мед процедур и госпитализаций, как и для конкретного пользователя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93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08BA-F167-B4BA-BF89-08F13DD0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A15128C-0023-3F7F-7C5E-93E62E12A4FB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4C6CCF5-0804-6116-3679-3511758FC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CD73DF-5447-B7C9-CF58-EA5ECA8905D0}"/>
              </a:ext>
            </a:extLst>
          </p:cNvPr>
          <p:cNvSpPr txBox="1"/>
          <p:nvPr/>
        </p:nvSpPr>
        <p:spPr>
          <a:xfrm>
            <a:off x="7315199" y="3921161"/>
            <a:ext cx="4750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входа в систему докторов и пациентов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F96E2E-E873-7A18-9CCE-AF4FBF9DB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38" r="24571"/>
          <a:stretch>
            <a:fillRect/>
          </a:stretch>
        </p:blipFill>
        <p:spPr>
          <a:xfrm>
            <a:off x="1212573" y="1959676"/>
            <a:ext cx="5645427" cy="573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31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0ABD-E117-92BC-61C1-C40A6C51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BE7C7EA-F374-B748-938F-5C45B7975CE8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3A821B8-6D11-BF6F-40A0-E9D8E21FC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2CC483-5158-3833-7161-2E0832B78AFA}"/>
              </a:ext>
            </a:extLst>
          </p:cNvPr>
          <p:cNvSpPr txBox="1"/>
          <p:nvPr/>
        </p:nvSpPr>
        <p:spPr>
          <a:xfrm>
            <a:off x="7315199" y="3921161"/>
            <a:ext cx="4750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отображения профиля пациента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8E0A23-E73C-0D5C-38A1-A0A788913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228" y="1885352"/>
            <a:ext cx="5001047" cy="573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72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945B-CD76-15DB-6D36-F49BF914E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3B456F2-DFA0-2736-1BBF-6DFAC35762BD}"/>
              </a:ext>
            </a:extLst>
          </p:cNvPr>
          <p:cNvSpPr/>
          <p:nvPr/>
        </p:nvSpPr>
        <p:spPr>
          <a:xfrm>
            <a:off x="5052655" y="736274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12B6EF1-4218-984E-1072-591E9138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594394-BAE5-D7DB-B174-C6E1364A5554}"/>
              </a:ext>
            </a:extLst>
          </p:cNvPr>
          <p:cNvSpPr txBox="1"/>
          <p:nvPr/>
        </p:nvSpPr>
        <p:spPr>
          <a:xfrm>
            <a:off x="7315199" y="3921161"/>
            <a:ext cx="4750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добавления пациента в систему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335EBF-6F2D-3099-1229-4BBE27362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530" y="1630018"/>
            <a:ext cx="4897018" cy="609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2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88D3-D732-9171-B470-56A08C74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7487C13-2BD7-3E87-BA59-A30CF69BF382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26766C2-46C7-9244-CEDD-47F262FB4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EB9AA5-2E4D-6527-92A7-276803C597B8}"/>
              </a:ext>
            </a:extLst>
          </p:cNvPr>
          <p:cNvSpPr txBox="1"/>
          <p:nvPr/>
        </p:nvSpPr>
        <p:spPr>
          <a:xfrm>
            <a:off x="7315199" y="3921161"/>
            <a:ext cx="4750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отображения списка госпитализаций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1B79F2-3621-6E2F-8B42-D4489FE94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1" y="2028836"/>
            <a:ext cx="4245196" cy="544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10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2237-B2D1-97B6-D6BE-6EEDF7AB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FA2ED56-FF3B-31A3-BEA8-36E3E9E8603E}"/>
              </a:ext>
            </a:extLst>
          </p:cNvPr>
          <p:cNvSpPr/>
          <p:nvPr/>
        </p:nvSpPr>
        <p:spPr>
          <a:xfrm>
            <a:off x="5612823" y="735884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A8D873A-F919-6901-8662-3F4F319BE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0BFDC6-5680-5651-5957-646803EBD063}"/>
              </a:ext>
            </a:extLst>
          </p:cNvPr>
          <p:cNvSpPr txBox="1"/>
          <p:nvPr/>
        </p:nvSpPr>
        <p:spPr>
          <a:xfrm>
            <a:off x="7663069" y="3717584"/>
            <a:ext cx="4750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добавления госпитализации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44253A-301F-6079-7B2B-4E61DEC14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847" y="1630018"/>
            <a:ext cx="5314399" cy="618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6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3282-9779-74F3-2E5C-9944ECCEA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A13346C-2EDE-B4BD-B4EB-28DC235CB226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A470DF5-500D-9CC7-55DC-B9CF2A982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5DB946-6A56-F35A-0842-F1B5066B4774}"/>
              </a:ext>
            </a:extLst>
          </p:cNvPr>
          <p:cNvSpPr txBox="1"/>
          <p:nvPr/>
        </p:nvSpPr>
        <p:spPr>
          <a:xfrm>
            <a:off x="7315199" y="3921161"/>
            <a:ext cx="4750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отображения списка лечебно-диагностических мероприятий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B90FD7-5A29-3C34-8233-E7B66CDA7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676" y="1759226"/>
            <a:ext cx="4410602" cy="616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47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EC71-5BF3-DD30-3424-97AF9148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DEED004-0341-7B2C-51A6-EBFC7A361D27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C0943C9-45FA-40CE-52F6-76BDEC9AB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EC787-B6A3-1686-E39B-8DEF1605FF0F}"/>
              </a:ext>
            </a:extLst>
          </p:cNvPr>
          <p:cNvSpPr txBox="1"/>
          <p:nvPr/>
        </p:nvSpPr>
        <p:spPr>
          <a:xfrm>
            <a:off x="9668702" y="3619787"/>
            <a:ext cx="4298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отображения деталей лечебно- профилактического мероприятия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405416-D486-6096-A807-E7D23468D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63" y="2339656"/>
            <a:ext cx="8597348" cy="48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89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6466B-FDE9-24CB-8892-3362366D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EF9A8-EAC3-1F30-6690-E3D604A22642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6AA2B11-2C89-0B0B-CB8E-DF98846B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507530-FD2B-9A42-012E-CB1E7A8F5B47}"/>
              </a:ext>
            </a:extLst>
          </p:cNvPr>
          <p:cNvSpPr txBox="1"/>
          <p:nvPr/>
        </p:nvSpPr>
        <p:spPr>
          <a:xfrm>
            <a:off x="9690651" y="3699301"/>
            <a:ext cx="4750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добавления лечебно-профилактического мероприятия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47961E-F48A-FA47-9228-68D81DF39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5" y="2285999"/>
            <a:ext cx="8552069" cy="481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36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B83EF-9075-D36C-08D2-DA700CFB6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CC588AB-C2CC-DB37-E7C8-68FC82C315E8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13DB444-B54A-755A-A385-CC7CC2FD4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F9DB2-9AAD-2023-A45B-83EE9FF2C553}"/>
              </a:ext>
            </a:extLst>
          </p:cNvPr>
          <p:cNvSpPr txBox="1"/>
          <p:nvPr/>
        </p:nvSpPr>
        <p:spPr>
          <a:xfrm>
            <a:off x="10600289" y="3500519"/>
            <a:ext cx="33343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отображения всех мероприятий связанных с конкретным пациентом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B8BE5B-8074-BC0E-3AF2-1801E5FF9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60" y="2097156"/>
            <a:ext cx="8997794" cy="50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24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5BD2-0707-93B1-AEC6-C03BD650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467DBB4-1CDE-50F1-4415-0162222C8E40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4BD1D8-DC8B-8346-85E1-6F48DD8B4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52B58C-1ECB-FA3C-2D7C-9364C9CD5DD8}"/>
              </a:ext>
            </a:extLst>
          </p:cNvPr>
          <p:cNvSpPr txBox="1"/>
          <p:nvPr/>
        </p:nvSpPr>
        <p:spPr>
          <a:xfrm>
            <a:off x="10600289" y="4236015"/>
            <a:ext cx="391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Страница для отображения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загруженность больницы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BEBB5F-612D-7DC4-E043-5AC28BD58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87" y="2765454"/>
            <a:ext cx="9582886" cy="398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4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5FA25-48F0-F358-49BF-D98BF1BA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C64944A-EEC9-7F1C-F983-259BD087245B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FA4C27C-F2D8-E467-350D-03760D70B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0DC1EC-7B03-4ABC-9159-E03E4F21F24E}"/>
              </a:ext>
            </a:extLst>
          </p:cNvPr>
          <p:cNvSpPr txBox="1"/>
          <p:nvPr/>
        </p:nvSpPr>
        <p:spPr>
          <a:xfrm>
            <a:off x="10003941" y="2995568"/>
            <a:ext cx="42837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CRUD </a:t>
            </a:r>
            <a:r>
              <a:rPr lang="ru-RU" sz="2400" dirty="0">
                <a:solidFill>
                  <a:schemeClr val="bg1"/>
                </a:solidFill>
              </a:rPr>
              <a:t>операции для пациента. Также его авторизации, добавления фото к его профилю, и генерация для него </a:t>
            </a:r>
            <a:r>
              <a:rPr lang="en-US" sz="2400" dirty="0" err="1">
                <a:solidFill>
                  <a:schemeClr val="bg1"/>
                </a:solidFill>
              </a:rPr>
              <a:t>qr</a:t>
            </a:r>
            <a:r>
              <a:rPr lang="ru-RU" sz="2400" dirty="0">
                <a:solidFill>
                  <a:schemeClr val="bg1"/>
                </a:solidFill>
              </a:rPr>
              <a:t> кода, возможность скачать договор на оказания услуг и согласие на обработку персональных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4C5815-EA35-B9D1-8E7B-CF8074183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940" y="2464905"/>
            <a:ext cx="8443030" cy="414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29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BFEE-91FC-936D-E4B3-588D970F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121DFF6-2AC9-18EB-1066-807D805544D7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271DE17-B56C-6998-8B34-7C2F9AE80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D12456-DEF7-8057-F7DB-D647365B37A5}"/>
              </a:ext>
            </a:extLst>
          </p:cNvPr>
          <p:cNvSpPr txBox="1"/>
          <p:nvPr/>
        </p:nvSpPr>
        <p:spPr>
          <a:xfrm>
            <a:off x="9248567" y="3987537"/>
            <a:ext cx="391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CRUD </a:t>
            </a:r>
            <a:r>
              <a:rPr lang="ru-RU" sz="2400" dirty="0">
                <a:solidFill>
                  <a:schemeClr val="bg1"/>
                </a:solidFill>
              </a:rPr>
              <a:t>операции для доктора и авторизация доктора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4E9B8C-D7DE-7818-AB8C-5B189778F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122" y="2539654"/>
            <a:ext cx="6006833" cy="431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83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18DDA-EB53-5CCB-E7E4-708BE76D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F936019-F6F8-3CBC-D728-0F4DA5B0A8AE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185798A-DEAB-85C7-D77D-4D96E1471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786489-65DE-53E7-B656-816ED36481B2}"/>
              </a:ext>
            </a:extLst>
          </p:cNvPr>
          <p:cNvSpPr txBox="1"/>
          <p:nvPr/>
        </p:nvSpPr>
        <p:spPr>
          <a:xfrm>
            <a:off x="9248568" y="3820514"/>
            <a:ext cx="49047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Получение всех госпитализаций, получение конкретной госпитализации, получение списка госпитализаций для конкретного пользователя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A0B395-1AB4-D453-ACDC-8705D827B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417" y="2971799"/>
            <a:ext cx="6497292" cy="345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42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7C4C-7EEC-FBEC-9EDA-979F5B2A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13B8566-D33A-558D-5295-9651AE8F80E7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E523BBE-8E34-038B-A208-CE027399D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745E67-355A-ED65-9045-CA6FD7D8AD9C}"/>
              </a:ext>
            </a:extLst>
          </p:cNvPr>
          <p:cNvSpPr txBox="1"/>
          <p:nvPr/>
        </p:nvSpPr>
        <p:spPr>
          <a:xfrm>
            <a:off x="8991335" y="3305626"/>
            <a:ext cx="4615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Создание, просмотр, добавление голосового и текстового комментария для мед процедуры, получения списка процедур для конкретного пользователя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436B81-74D3-F555-EE00-BCF340793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816" y="2190775"/>
            <a:ext cx="661035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49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6A09D-832E-8BAE-E51A-CFC970AA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0856A8A-C1E3-0D95-6329-FB731A4E7BE4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A2FDF07-9AE7-2C34-F30F-6C9B5B144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C6E8B0-3001-C0EF-60A5-AA9DA863F856}"/>
              </a:ext>
            </a:extLst>
          </p:cNvPr>
          <p:cNvSpPr txBox="1"/>
          <p:nvPr/>
        </p:nvSpPr>
        <p:spPr>
          <a:xfrm>
            <a:off x="9349143" y="3252041"/>
            <a:ext cx="49385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bg1"/>
                </a:solidFill>
              </a:rPr>
              <a:t>Эндпоинты</a:t>
            </a:r>
            <a:r>
              <a:rPr lang="ru-RU" sz="2400" dirty="0">
                <a:solidFill>
                  <a:schemeClr val="bg1"/>
                </a:solidFill>
              </a:rPr>
              <a:t> для отслеживания перемещения персонала и пациентов в больнице и отслеживания койка мест в стационаре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0B003B-8360-D99E-F8DB-6678F69DD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791" y="2664831"/>
            <a:ext cx="6346549" cy="329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24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B7385-792A-77A3-08C5-ACD71107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397D89F-0B84-5F6C-3EDF-C45435177104}"/>
              </a:ext>
            </a:extLst>
          </p:cNvPr>
          <p:cNvSpPr/>
          <p:nvPr/>
        </p:nvSpPr>
        <p:spPr>
          <a:xfrm>
            <a:off x="5201741" y="457589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26319AE-EF16-73BE-7766-F7301DC53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8690F1-FE3F-BDF3-0813-0ACDCA50A820}"/>
              </a:ext>
            </a:extLst>
          </p:cNvPr>
          <p:cNvSpPr txBox="1"/>
          <p:nvPr/>
        </p:nvSpPr>
        <p:spPr>
          <a:xfrm>
            <a:off x="10023820" y="3820516"/>
            <a:ext cx="391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bg1"/>
                </a:solidFill>
              </a:rPr>
              <a:t>Эндпоинты</a:t>
            </a:r>
            <a:r>
              <a:rPr lang="ru-RU" sz="2400" dirty="0">
                <a:solidFill>
                  <a:schemeClr val="bg1"/>
                </a:solidFill>
              </a:rPr>
              <a:t> для отрисовки </a:t>
            </a:r>
            <a:r>
              <a:rPr lang="en-US" sz="2400" dirty="0">
                <a:solidFill>
                  <a:schemeClr val="bg1"/>
                </a:solidFill>
              </a:rPr>
              <a:t>html </a:t>
            </a:r>
            <a:r>
              <a:rPr lang="ru-RU" sz="2400" dirty="0">
                <a:solidFill>
                  <a:schemeClr val="bg1"/>
                </a:solidFill>
              </a:rPr>
              <a:t>страниц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CCB637-BF34-9D96-4131-F91A0265D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32" y="1582073"/>
            <a:ext cx="8527246" cy="62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01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651F-8CE3-D331-A6E7-788DA0DC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4F9A6EC-BC2E-4EE1-38CE-1712940E7935}"/>
              </a:ext>
            </a:extLst>
          </p:cNvPr>
          <p:cNvSpPr/>
          <p:nvPr/>
        </p:nvSpPr>
        <p:spPr>
          <a:xfrm>
            <a:off x="5201741" y="457589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037F95C-5093-3EE5-B712-58A21D196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39817-2402-B10F-FA62-6A279690CF96}"/>
              </a:ext>
            </a:extLst>
          </p:cNvPr>
          <p:cNvSpPr txBox="1"/>
          <p:nvPr/>
        </p:nvSpPr>
        <p:spPr>
          <a:xfrm>
            <a:off x="9039847" y="3664677"/>
            <a:ext cx="4397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Возможность скачивать мед карту пациента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4119A2-4BF5-731D-3F32-E5E63FE05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971" y="1441174"/>
            <a:ext cx="5800618" cy="614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68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3745-D692-4DC2-0472-176AC061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C96B466-4045-E412-3EF7-FBBFF754BD64}"/>
              </a:ext>
            </a:extLst>
          </p:cNvPr>
          <p:cNvSpPr/>
          <p:nvPr/>
        </p:nvSpPr>
        <p:spPr>
          <a:xfrm>
            <a:off x="5201741" y="457589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A32AE65-A1FD-F55F-2F29-71C183CDE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0409BA-4F08-A006-D2E3-602C50FA9A8B}"/>
              </a:ext>
            </a:extLst>
          </p:cNvPr>
          <p:cNvSpPr txBox="1"/>
          <p:nvPr/>
        </p:nvSpPr>
        <p:spPr>
          <a:xfrm>
            <a:off x="8532951" y="3664677"/>
            <a:ext cx="4397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Возможность скачивать договор на оказание услуг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1AFB16-5564-024F-FECB-3CEA20CF6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831" y="1797369"/>
            <a:ext cx="5059847" cy="612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21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8420-174F-74DE-2D6D-089D56B6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FE418FA-5A62-C87F-87F8-B3ADA60A7712}"/>
              </a:ext>
            </a:extLst>
          </p:cNvPr>
          <p:cNvSpPr/>
          <p:nvPr/>
        </p:nvSpPr>
        <p:spPr>
          <a:xfrm>
            <a:off x="5201741" y="457589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9527A6-86B0-E79E-15AD-06153789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A8DEA2-869C-B189-F17E-B08B54A36FCA}"/>
              </a:ext>
            </a:extLst>
          </p:cNvPr>
          <p:cNvSpPr txBox="1"/>
          <p:nvPr/>
        </p:nvSpPr>
        <p:spPr>
          <a:xfrm>
            <a:off x="8532951" y="3664677"/>
            <a:ext cx="4397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Возможность скачивать согласие на обработку персональных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B88327-1125-BE8D-8927-3E2B02129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013" y="1620077"/>
            <a:ext cx="4397858" cy="593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41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5147" y="1014180"/>
            <a:ext cx="5856932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Подсистема</a:t>
            </a:r>
            <a:r>
              <a:rPr lang="en-US" sz="4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ru-RU" sz="4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Аптека</a:t>
            </a:r>
            <a:endParaRPr lang="en-US" sz="4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6470C48-101C-E7AA-D831-8DF318D09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8BAE28F-3DC2-D43F-CB90-F0591982AC7E}"/>
              </a:ext>
            </a:extLst>
          </p:cNvPr>
          <p:cNvSpPr txBox="1"/>
          <p:nvPr/>
        </p:nvSpPr>
        <p:spPr>
          <a:xfrm>
            <a:off x="6460434" y="2067338"/>
            <a:ext cx="68679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Эта система на данный момент является полностью не зависимой от основной системы. Я планирую их связать с помощью </a:t>
            </a:r>
            <a:r>
              <a:rPr lang="en-US" dirty="0">
                <a:solidFill>
                  <a:schemeClr val="bg1"/>
                </a:solidFill>
              </a:rPr>
              <a:t>RabbitMQ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 связи с этим она не предоставляет веб интерфейса, с ней можно взаимодействовать только с помощью </a:t>
            </a:r>
            <a:r>
              <a:rPr lang="en-US" dirty="0">
                <a:solidFill>
                  <a:schemeClr val="bg1"/>
                </a:solidFill>
              </a:rPr>
              <a:t>API.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6144" y="728253"/>
            <a:ext cx="59695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Подсистема</a:t>
            </a: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445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Аптека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229996" y="23251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База данных</a:t>
            </a:r>
            <a:endParaRPr lang="en-US" sz="22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BF69451-96A8-A865-7C19-72D11B51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D421020-A6AC-5B31-BC58-38AD92FD0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809" y="2091489"/>
            <a:ext cx="8961575" cy="583477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BFB884B-0BC8-1B3F-C0FA-0DE71A71A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95" y="2996646"/>
            <a:ext cx="3488635" cy="34886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Подсистема</a:t>
            </a: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445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Аптека</a:t>
            </a:r>
            <a:endParaRPr lang="ru-RU" sz="4450" dirty="0">
              <a:solidFill>
                <a:srgbClr val="FFFFFF"/>
              </a:solidFill>
              <a:latin typeface="Roboto Mono Medium" pitchFamily="34" charset="0"/>
              <a:ea typeface="Roboto Mono Medium" pitchFamily="34" charset="-122"/>
              <a:cs typeface="Roboto Mono Medium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Функциональность</a:t>
            </a:r>
            <a:endParaRPr lang="en-US" sz="44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EECB5F2-4D91-243A-92B5-7E550C89C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CDB7CC-6E9B-811D-EAA9-4850D0F419BC}"/>
              </a:ext>
            </a:extLst>
          </p:cNvPr>
          <p:cNvSpPr txBox="1"/>
          <p:nvPr/>
        </p:nvSpPr>
        <p:spPr>
          <a:xfrm>
            <a:off x="6226867" y="2286000"/>
            <a:ext cx="583426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Предоставить список лекарственных препаратов и их наличие на складах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Поддержка фильтрации по складам.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Возможность отображения информации об одном препарате и его количестве на всех доступных складах.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Обрабатывать поступление и отпуск лекарств с проверкой срока годности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Обрабатывать списание лекарств с указанием причины списания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Создание запросов на выдачу лекарств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Ежедневная проверка на просроченные лекарства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Составления отчета о заказе недостающих </a:t>
            </a:r>
            <a:r>
              <a:rPr lang="ru-RU" dirty="0" err="1">
                <a:solidFill>
                  <a:schemeClr val="bg1"/>
                </a:solidFill>
              </a:rPr>
              <a:t>препоратов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F090-ACD7-7620-F719-6993C859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BB591FC-824A-6E42-91D8-F1130C38594B}"/>
              </a:ext>
            </a:extLst>
          </p:cNvPr>
          <p:cNvSpPr/>
          <p:nvPr/>
        </p:nvSpPr>
        <p:spPr>
          <a:xfrm>
            <a:off x="5052655" y="904850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BFB101-ACBF-B7E4-0C64-B96C5E9D6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48B8F5-3A67-19FA-A904-075BF0AD6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36" y="2946743"/>
            <a:ext cx="6127060" cy="2687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5113D5-8EBD-7B43-AFBC-39591B4F9B76}"/>
              </a:ext>
            </a:extLst>
          </p:cNvPr>
          <p:cNvSpPr txBox="1"/>
          <p:nvPr/>
        </p:nvSpPr>
        <p:spPr>
          <a:xfrm>
            <a:off x="7682948" y="3505663"/>
            <a:ext cx="47509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CRUD</a:t>
            </a:r>
            <a:r>
              <a:rPr lang="ru-RU" sz="2400" dirty="0">
                <a:solidFill>
                  <a:schemeClr val="bg1"/>
                </a:solidFill>
              </a:rPr>
              <a:t> операции для создания, поиска, удаления и входа в систему для администраторов складов с лекарствами</a:t>
            </a:r>
          </a:p>
        </p:txBody>
      </p:sp>
    </p:spTree>
    <p:extLst>
      <p:ext uri="{BB962C8B-B14F-4D97-AF65-F5344CB8AC3E}">
        <p14:creationId xmlns:p14="http://schemas.microsoft.com/office/powerpoint/2010/main" val="3953078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A8FD-D1F3-D029-0234-D27B1961C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8E1EB96-AC6E-A1F7-BF7F-A15D20CE445C}"/>
              </a:ext>
            </a:extLst>
          </p:cNvPr>
          <p:cNvSpPr/>
          <p:nvPr/>
        </p:nvSpPr>
        <p:spPr>
          <a:xfrm>
            <a:off x="5171924" y="1267434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052C4EF-51EA-6A72-92DC-E69037F38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E9246-003B-AA30-47A6-9314B77FB617}"/>
              </a:ext>
            </a:extLst>
          </p:cNvPr>
          <p:cNvSpPr txBox="1"/>
          <p:nvPr/>
        </p:nvSpPr>
        <p:spPr>
          <a:xfrm>
            <a:off x="7543801" y="3967328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CRUD</a:t>
            </a:r>
            <a:r>
              <a:rPr lang="ru-RU" sz="2400" dirty="0">
                <a:solidFill>
                  <a:schemeClr val="bg1"/>
                </a:solidFill>
              </a:rPr>
              <a:t> операции для складов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5CC40E-631A-EE4D-F5C7-7318250E8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48" y="2706570"/>
            <a:ext cx="6393139" cy="322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96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3A43-CF3F-83C6-D639-BB8CE7B1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7EC493D-F28C-870F-DD38-0E346B76AFA9}"/>
              </a:ext>
            </a:extLst>
          </p:cNvPr>
          <p:cNvSpPr/>
          <p:nvPr/>
        </p:nvSpPr>
        <p:spPr>
          <a:xfrm>
            <a:off x="5171924" y="1267434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5581B78-FDEC-A67E-0F16-54A318016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393201-7F2E-97B4-06A3-5B20DE799470}"/>
              </a:ext>
            </a:extLst>
          </p:cNvPr>
          <p:cNvSpPr txBox="1"/>
          <p:nvPr/>
        </p:nvSpPr>
        <p:spPr>
          <a:xfrm>
            <a:off x="7543801" y="3967328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CRUD</a:t>
            </a:r>
            <a:r>
              <a:rPr lang="ru-RU" sz="2400" dirty="0">
                <a:solidFill>
                  <a:schemeClr val="bg1"/>
                </a:solidFill>
              </a:rPr>
              <a:t> операции для лекарств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F217C9-4CCB-EDF6-DDBE-53146D229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79" y="2698898"/>
            <a:ext cx="6428133" cy="346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87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CC801-69A8-6AEB-11ED-08F60BAD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EE6292F-6894-9001-07D7-F00E8932F693}"/>
              </a:ext>
            </a:extLst>
          </p:cNvPr>
          <p:cNvSpPr/>
          <p:nvPr/>
        </p:nvSpPr>
        <p:spPr>
          <a:xfrm>
            <a:off x="5171924" y="1267434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E47E0CE-0303-E112-9399-C451378C1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5759D2-16FA-D6D5-AF29-13B50C4EC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41" y="2809266"/>
            <a:ext cx="5324475" cy="4152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32EC34-2B49-5F72-ECCD-B0DCF801848C}"/>
              </a:ext>
            </a:extLst>
          </p:cNvPr>
          <p:cNvSpPr txBox="1"/>
          <p:nvPr/>
        </p:nvSpPr>
        <p:spPr>
          <a:xfrm>
            <a:off x="7742583" y="2809266"/>
            <a:ext cx="5088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WarehouseMedicine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связывает конкретное лекарство со складом на котором оно расположено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355AE-A01A-302B-36EA-F3D02ACA5CEF}"/>
              </a:ext>
            </a:extLst>
          </p:cNvPr>
          <p:cNvSpPr txBox="1"/>
          <p:nvPr/>
        </p:nvSpPr>
        <p:spPr>
          <a:xfrm>
            <a:off x="7742583" y="4220006"/>
            <a:ext cx="59421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 помощью этих </a:t>
            </a:r>
            <a:r>
              <a:rPr lang="ru-RU" sz="2400" dirty="0" err="1">
                <a:solidFill>
                  <a:schemeClr val="bg1"/>
                </a:solidFill>
              </a:rPr>
              <a:t>эндпоинтов</a:t>
            </a:r>
            <a:r>
              <a:rPr lang="ru-RU" sz="2400" dirty="0">
                <a:solidFill>
                  <a:schemeClr val="bg1"/>
                </a:solidFill>
              </a:rPr>
              <a:t> можно производить </a:t>
            </a:r>
            <a:r>
              <a:rPr lang="en-US" sz="2400" dirty="0">
                <a:solidFill>
                  <a:schemeClr val="bg1"/>
                </a:solidFill>
              </a:rPr>
              <a:t>CRUD </a:t>
            </a:r>
            <a:r>
              <a:rPr lang="ru-RU" sz="2400" dirty="0">
                <a:solidFill>
                  <a:schemeClr val="bg1"/>
                </a:solidFill>
              </a:rPr>
              <a:t>операции для </a:t>
            </a:r>
            <a:r>
              <a:rPr lang="en-US" sz="2400" dirty="0" err="1">
                <a:solidFill>
                  <a:schemeClr val="bg1"/>
                </a:solidFill>
              </a:rPr>
              <a:t>WarehouseMedicine</a:t>
            </a:r>
            <a:r>
              <a:rPr lang="ru-RU" sz="2400" dirty="0">
                <a:solidFill>
                  <a:schemeClr val="bg1"/>
                </a:solidFill>
              </a:rPr>
              <a:t>, а также запускать проверку на срок годности лекарств хранящихся на складе. Получать общее число лекарств на всех складах, а также переводить лекарства с одного склада на другой</a:t>
            </a:r>
          </a:p>
        </p:txBody>
      </p:sp>
    </p:spTree>
    <p:extLst>
      <p:ext uri="{BB962C8B-B14F-4D97-AF65-F5344CB8AC3E}">
        <p14:creationId xmlns:p14="http://schemas.microsoft.com/office/powerpoint/2010/main" val="3043884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B1D4-D3E3-F73A-A147-EC68512B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219B71E-4C1A-1671-66AE-97A723B2B814}"/>
              </a:ext>
            </a:extLst>
          </p:cNvPr>
          <p:cNvSpPr/>
          <p:nvPr/>
        </p:nvSpPr>
        <p:spPr>
          <a:xfrm>
            <a:off x="5171924" y="1267434"/>
            <a:ext cx="4525089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Функциональность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AABAAFA-811F-E32E-A25B-871783B73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8433B2-8E51-1518-9D64-1B152BD2707E}"/>
              </a:ext>
            </a:extLst>
          </p:cNvPr>
          <p:cNvSpPr txBox="1"/>
          <p:nvPr/>
        </p:nvSpPr>
        <p:spPr>
          <a:xfrm>
            <a:off x="7742583" y="2809266"/>
            <a:ext cx="5088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Формирует отчет о необходимости заказа лекарств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6A2C0-D595-325D-3D7E-2700587DB600}"/>
              </a:ext>
            </a:extLst>
          </p:cNvPr>
          <p:cNvSpPr txBox="1"/>
          <p:nvPr/>
        </p:nvSpPr>
        <p:spPr>
          <a:xfrm>
            <a:off x="7742583" y="4196003"/>
            <a:ext cx="59421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bg1"/>
                </a:solidFill>
              </a:rPr>
              <a:t>Эндпоинты</a:t>
            </a:r>
            <a:r>
              <a:rPr lang="ru-RU" sz="2400" dirty="0">
                <a:solidFill>
                  <a:schemeClr val="bg1"/>
                </a:solidFill>
              </a:rPr>
              <a:t> для создания запроса на отпуске лекарств, а также изменения статуса этого запроса. При одобрении запроса происходит списание определенного </a:t>
            </a:r>
            <a:r>
              <a:rPr lang="ru-RU" sz="2400" dirty="0" err="1">
                <a:solidFill>
                  <a:schemeClr val="bg1"/>
                </a:solidFill>
              </a:rPr>
              <a:t>колличеста</a:t>
            </a:r>
            <a:r>
              <a:rPr lang="ru-RU" sz="2400" dirty="0">
                <a:solidFill>
                  <a:schemeClr val="bg1"/>
                </a:solidFill>
              </a:rPr>
              <a:t> этого препарата со склада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9116C8-095D-C9EA-2866-2E12A4481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54" y="2728965"/>
            <a:ext cx="6486733" cy="401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84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4E9A0-9873-57E1-E4B3-8B104D022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E7E73C1-D81A-B2FF-7BA9-704AC9CCE693}"/>
              </a:ext>
            </a:extLst>
          </p:cNvPr>
          <p:cNvSpPr/>
          <p:nvPr/>
        </p:nvSpPr>
        <p:spPr>
          <a:xfrm>
            <a:off x="4862021" y="388016"/>
            <a:ext cx="4687692" cy="784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Эксперимент</a:t>
            </a:r>
            <a:r>
              <a:rPr lang="en-US" sz="4100" dirty="0">
                <a:solidFill>
                  <a:schemeClr val="bg1"/>
                </a:solidFill>
              </a:rPr>
              <a:t>  </a:t>
            </a:r>
            <a:r>
              <a:rPr lang="en-US" sz="4100" dirty="0" err="1">
                <a:solidFill>
                  <a:schemeClr val="bg1"/>
                </a:solidFill>
              </a:rPr>
              <a:t>PyPy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84F39C-8461-12A8-1320-AC59562B5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ECC5EC-A903-69F2-2BF9-8CCD9671DAF4}"/>
              </a:ext>
            </a:extLst>
          </p:cNvPr>
          <p:cNvSpPr txBox="1"/>
          <p:nvPr/>
        </p:nvSpPr>
        <p:spPr>
          <a:xfrm>
            <a:off x="1033669" y="2091178"/>
            <a:ext cx="4615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Давайте сначала разберемся что такое </a:t>
            </a:r>
            <a:r>
              <a:rPr lang="en-US" dirty="0" err="1">
                <a:solidFill>
                  <a:schemeClr val="bg1"/>
                </a:solidFill>
              </a:rPr>
              <a:t>pypy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  <a:p>
            <a:r>
              <a:rPr lang="ru-RU" dirty="0">
                <a:solidFill>
                  <a:schemeClr val="bg1"/>
                </a:solidFill>
              </a:rPr>
              <a:t>Где его применяют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  <a:p>
            <a:r>
              <a:rPr lang="ru-RU" dirty="0">
                <a:solidFill>
                  <a:schemeClr val="bg1"/>
                </a:solidFill>
              </a:rPr>
              <a:t>Для чего его хотел использовать я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87187-796D-5C47-7CA5-899E59D4CDB9}"/>
              </a:ext>
            </a:extLst>
          </p:cNvPr>
          <p:cNvSpPr txBox="1"/>
          <p:nvPr/>
        </p:nvSpPr>
        <p:spPr>
          <a:xfrm>
            <a:off x="6272986" y="1977887"/>
            <a:ext cx="5416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1. </a:t>
            </a:r>
            <a:r>
              <a:rPr lang="ru-RU" b="1" dirty="0" err="1">
                <a:solidFill>
                  <a:schemeClr val="bg1"/>
                </a:solidFill>
              </a:rPr>
              <a:t>PyPy</a:t>
            </a:r>
            <a:r>
              <a:rPr lang="ru-RU" dirty="0">
                <a:solidFill>
                  <a:schemeClr val="bg1"/>
                </a:solidFill>
              </a:rPr>
              <a:t> — интерпретатор языка программирования Python, альтернативная реализация стандартного интерпретатора Python (</a:t>
            </a:r>
            <a:r>
              <a:rPr lang="ru-RU" dirty="0" err="1">
                <a:solidFill>
                  <a:schemeClr val="bg1"/>
                </a:solidFill>
              </a:rPr>
              <a:t>CPython</a:t>
            </a:r>
            <a:r>
              <a:rPr lang="ru-RU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6" name="Блок-схема: альтернативный процесс 5">
            <a:extLst>
              <a:ext uri="{FF2B5EF4-FFF2-40B4-BE49-F238E27FC236}">
                <a16:creationId xmlns:a16="http://schemas.microsoft.com/office/drawing/2014/main" id="{EDDFA956-D51E-AABE-391A-729991AAF386}"/>
              </a:ext>
            </a:extLst>
          </p:cNvPr>
          <p:cNvSpPr/>
          <p:nvPr/>
        </p:nvSpPr>
        <p:spPr>
          <a:xfrm>
            <a:off x="2107096" y="4565457"/>
            <a:ext cx="1083365" cy="156044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main.py</a:t>
            </a:r>
            <a:endParaRPr lang="ru-RU" dirty="0"/>
          </a:p>
        </p:txBody>
      </p:sp>
      <p:sp>
        <p:nvSpPr>
          <p:cNvPr id="7" name="Блок-схема: альтернативный процесс 6">
            <a:extLst>
              <a:ext uri="{FF2B5EF4-FFF2-40B4-BE49-F238E27FC236}">
                <a16:creationId xmlns:a16="http://schemas.microsoft.com/office/drawing/2014/main" id="{DA94D884-3FAB-A0CC-15BA-C3B0F6155632}"/>
              </a:ext>
            </a:extLst>
          </p:cNvPr>
          <p:cNvSpPr/>
          <p:nvPr/>
        </p:nvSpPr>
        <p:spPr>
          <a:xfrm>
            <a:off x="5125014" y="4170897"/>
            <a:ext cx="3697356" cy="251320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1E97075-4090-A2DA-FE34-8153F6E7377C}"/>
              </a:ext>
            </a:extLst>
          </p:cNvPr>
          <p:cNvCxnSpPr>
            <a:stCxn id="6" idx="3"/>
          </p:cNvCxnSpPr>
          <p:nvPr/>
        </p:nvCxnSpPr>
        <p:spPr>
          <a:xfrm>
            <a:off x="3190461" y="5345679"/>
            <a:ext cx="1878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E10C4E98-DFB9-0165-BD29-8FB87CA3E3DD}"/>
              </a:ext>
            </a:extLst>
          </p:cNvPr>
          <p:cNvSpPr/>
          <p:nvPr/>
        </p:nvSpPr>
        <p:spPr>
          <a:xfrm>
            <a:off x="5380647" y="4544910"/>
            <a:ext cx="1328266" cy="1685384"/>
          </a:xfrm>
          <a:prstGeom prst="flowChartAlternateProcess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компилятор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3A07B11-A9E2-2408-A038-85BEF82DB747}"/>
              </a:ext>
            </a:extLst>
          </p:cNvPr>
          <p:cNvSpPr/>
          <p:nvPr/>
        </p:nvSpPr>
        <p:spPr>
          <a:xfrm>
            <a:off x="7050421" y="4646208"/>
            <a:ext cx="1507170" cy="15625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интерпретатор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1C1B4-9561-D9A3-6B5B-17CEBC2FED36}"/>
              </a:ext>
            </a:extLst>
          </p:cNvPr>
          <p:cNvSpPr txBox="1"/>
          <p:nvPr/>
        </p:nvSpPr>
        <p:spPr>
          <a:xfrm>
            <a:off x="3135794" y="3548671"/>
            <a:ext cx="4615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Как запускается программа на языке </a:t>
            </a:r>
            <a:r>
              <a:rPr lang="en-US" dirty="0">
                <a:solidFill>
                  <a:schemeClr val="bg1"/>
                </a:solidFill>
              </a:rPr>
              <a:t>Python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Блок-схема: альтернативный процесс 12">
            <a:extLst>
              <a:ext uri="{FF2B5EF4-FFF2-40B4-BE49-F238E27FC236}">
                <a16:creationId xmlns:a16="http://schemas.microsoft.com/office/drawing/2014/main" id="{8B9079D7-840E-59B6-190E-452C7D3787AB}"/>
              </a:ext>
            </a:extLst>
          </p:cNvPr>
          <p:cNvSpPr/>
          <p:nvPr/>
        </p:nvSpPr>
        <p:spPr>
          <a:xfrm>
            <a:off x="5247861" y="7146235"/>
            <a:ext cx="1958006" cy="54626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</a:t>
            </a:r>
            <a:r>
              <a:rPr lang="en-US" dirty="0" err="1"/>
              <a:t>pycache</a:t>
            </a:r>
            <a:r>
              <a:rPr lang="en-US" dirty="0"/>
              <a:t>__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91E1FB4-27D3-9F30-7DA8-94610D8A041D}"/>
              </a:ext>
            </a:extLst>
          </p:cNvPr>
          <p:cNvCxnSpPr/>
          <p:nvPr/>
        </p:nvCxnSpPr>
        <p:spPr>
          <a:xfrm>
            <a:off x="6202017" y="6684098"/>
            <a:ext cx="0" cy="462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418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BD1F-853C-472C-593F-8601A0776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7CF34D9-E7C7-002A-0486-2D1BA485638D}"/>
              </a:ext>
            </a:extLst>
          </p:cNvPr>
          <p:cNvSpPr/>
          <p:nvPr/>
        </p:nvSpPr>
        <p:spPr>
          <a:xfrm>
            <a:off x="4560667" y="909626"/>
            <a:ext cx="5250645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Где применяют </a:t>
            </a:r>
            <a:r>
              <a:rPr lang="en-US" sz="4100" dirty="0" err="1">
                <a:solidFill>
                  <a:schemeClr val="bg1"/>
                </a:solidFill>
              </a:rPr>
              <a:t>PyPy</a:t>
            </a:r>
            <a:r>
              <a:rPr lang="en-US" sz="41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78827E5-F773-6F10-F94F-99395F071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11FFBE-7BD9-8256-003A-798A97974724}"/>
              </a:ext>
            </a:extLst>
          </p:cNvPr>
          <p:cNvSpPr txBox="1"/>
          <p:nvPr/>
        </p:nvSpPr>
        <p:spPr>
          <a:xfrm>
            <a:off x="944218" y="2922105"/>
            <a:ext cx="52506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Высоконагруженные вычисления</a:t>
            </a:r>
            <a:endParaRPr lang="en-US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</a:rPr>
              <a:t>Научные расчёты</a:t>
            </a:r>
            <a:r>
              <a:rPr lang="ru-RU" dirty="0">
                <a:solidFill>
                  <a:schemeClr val="bg1"/>
                </a:solidFill>
              </a:rPr>
              <a:t> (анализ данных) — </a:t>
            </a:r>
            <a:r>
              <a:rPr lang="ru-RU" dirty="0" err="1">
                <a:solidFill>
                  <a:schemeClr val="bg1"/>
                </a:solidFill>
              </a:rPr>
              <a:t>PyPy</a:t>
            </a:r>
            <a:r>
              <a:rPr lang="ru-RU" dirty="0">
                <a:solidFill>
                  <a:schemeClr val="bg1"/>
                </a:solidFill>
              </a:rPr>
              <a:t> ускоряет выполнение кода по сравнению с </a:t>
            </a:r>
            <a:r>
              <a:rPr lang="ru-RU" dirty="0" err="1">
                <a:solidFill>
                  <a:schemeClr val="bg1"/>
                </a:solidFill>
              </a:rPr>
              <a:t>CPython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</a:rPr>
              <a:t>Финансовые вычисления</a:t>
            </a:r>
            <a:r>
              <a:rPr lang="ru-RU" dirty="0">
                <a:solidFill>
                  <a:schemeClr val="bg1"/>
                </a:solidFill>
              </a:rPr>
              <a:t> (алгоритмический трейдинг, риск-анализ) — JIT-компиляция </a:t>
            </a:r>
            <a:r>
              <a:rPr lang="ru-RU" dirty="0" err="1">
                <a:solidFill>
                  <a:schemeClr val="bg1"/>
                </a:solidFill>
              </a:rPr>
              <a:t>PyPy</a:t>
            </a:r>
            <a:r>
              <a:rPr lang="ru-RU" dirty="0">
                <a:solidFill>
                  <a:schemeClr val="bg1"/>
                </a:solidFill>
              </a:rPr>
              <a:t> сокращает время обработки больших объёмов данных.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991AC7-0AA4-BA9F-7240-3D7358D04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990" y="2922105"/>
            <a:ext cx="4929810" cy="2848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AD01A8-DFC8-C41C-1525-5DB34714C654}"/>
              </a:ext>
            </a:extLst>
          </p:cNvPr>
          <p:cNvSpPr txBox="1"/>
          <p:nvPr/>
        </p:nvSpPr>
        <p:spPr>
          <a:xfrm>
            <a:off x="7315199" y="6061426"/>
            <a:ext cx="4035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CPython</a:t>
            </a:r>
            <a:r>
              <a:rPr lang="en-US" dirty="0">
                <a:solidFill>
                  <a:schemeClr val="bg1"/>
                </a:solidFill>
              </a:rPr>
              <a:t> 23.7045c</a:t>
            </a:r>
          </a:p>
          <a:p>
            <a:r>
              <a:rPr lang="en-US" dirty="0" err="1">
                <a:solidFill>
                  <a:schemeClr val="bg1"/>
                </a:solidFill>
              </a:rPr>
              <a:t>PyPy</a:t>
            </a:r>
            <a:r>
              <a:rPr lang="en-US" dirty="0">
                <a:solidFill>
                  <a:schemeClr val="bg1"/>
                </a:solidFill>
              </a:rPr>
              <a:t> 0.7937c 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0944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48C4-E175-EA35-AED8-145CF567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290BB01-AE69-0BF0-C269-BC78D0FA57B1}"/>
              </a:ext>
            </a:extLst>
          </p:cNvPr>
          <p:cNvSpPr/>
          <p:nvPr/>
        </p:nvSpPr>
        <p:spPr>
          <a:xfrm>
            <a:off x="3101009" y="949381"/>
            <a:ext cx="9407180" cy="102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400" dirty="0">
                <a:solidFill>
                  <a:schemeClr val="bg1"/>
                </a:solidFill>
              </a:rPr>
              <a:t>Для чего его хотел использовать я</a:t>
            </a:r>
            <a:r>
              <a:rPr lang="en-US" sz="4400" dirty="0">
                <a:solidFill>
                  <a:schemeClr val="bg1"/>
                </a:solidFill>
              </a:rPr>
              <a:t>?</a:t>
            </a:r>
            <a:endParaRPr lang="ru-RU" sz="44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FE6B39F-0A37-3D4D-01A8-F3CA8342F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6F94B8-352E-CF72-15AC-3CDDF1F4DC74}"/>
              </a:ext>
            </a:extLst>
          </p:cNvPr>
          <p:cNvSpPr txBox="1"/>
          <p:nvPr/>
        </p:nvSpPr>
        <p:spPr>
          <a:xfrm>
            <a:off x="1490868" y="2178768"/>
            <a:ext cx="5416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Я хотел проверить, ускорится ли программа, если запустить её на интерпретаторе </a:t>
            </a:r>
            <a:r>
              <a:rPr lang="en-US" dirty="0" err="1">
                <a:solidFill>
                  <a:schemeClr val="bg1"/>
                </a:solidFill>
              </a:rPr>
              <a:t>PyPy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29C1E-4594-7721-A90F-BE78AC6A495A}"/>
              </a:ext>
            </a:extLst>
          </p:cNvPr>
          <p:cNvSpPr txBox="1"/>
          <p:nvPr/>
        </p:nvSpPr>
        <p:spPr>
          <a:xfrm>
            <a:off x="1490868" y="3099137"/>
            <a:ext cx="5824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Но когда я начал пытаться это сделать у меня возникли проблемы с библиотеками, так как есть библиотеки, которые используют </a:t>
            </a:r>
            <a:r>
              <a:rPr lang="ru-RU" dirty="0" err="1">
                <a:solidFill>
                  <a:schemeClr val="bg1"/>
                </a:solidFill>
              </a:rPr>
              <a:t>Сишные</a:t>
            </a:r>
            <a:r>
              <a:rPr lang="ru-RU" dirty="0">
                <a:solidFill>
                  <a:schemeClr val="bg1"/>
                </a:solidFill>
              </a:rPr>
              <a:t> вызовы, а они не поддерживаются </a:t>
            </a:r>
            <a:r>
              <a:rPr lang="en-US" dirty="0" err="1">
                <a:solidFill>
                  <a:schemeClr val="bg1"/>
                </a:solidFill>
              </a:rPr>
              <a:t>pypy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Тогда я решил попробовать протестировать на 1 изолированном </a:t>
            </a:r>
            <a:r>
              <a:rPr lang="ru-RU" dirty="0" err="1">
                <a:solidFill>
                  <a:schemeClr val="bg1"/>
                </a:solidFill>
              </a:rPr>
              <a:t>эндпоинте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317EC6-CAF8-48AA-C2CD-F638E7030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707" y="2076450"/>
            <a:ext cx="65913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81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C4F1-1C49-764E-851B-21922280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36B7569-DCE9-D9F1-03DB-8C86ED93F246}"/>
              </a:ext>
            </a:extLst>
          </p:cNvPr>
          <p:cNvSpPr/>
          <p:nvPr/>
        </p:nvSpPr>
        <p:spPr>
          <a:xfrm>
            <a:off x="3563178" y="437711"/>
            <a:ext cx="7504044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Результаты использования </a:t>
            </a:r>
            <a:r>
              <a:rPr lang="en-US" sz="4100" dirty="0" err="1">
                <a:solidFill>
                  <a:schemeClr val="bg1"/>
                </a:solidFill>
              </a:rPr>
              <a:t>PyPy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81CDBE6-9610-8C16-B2C5-A1C7810BA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51164A-2E2A-28DD-00A6-48E5DB2DE52E}"/>
              </a:ext>
            </a:extLst>
          </p:cNvPr>
          <p:cNvSpPr txBox="1"/>
          <p:nvPr/>
        </p:nvSpPr>
        <p:spPr>
          <a:xfrm>
            <a:off x="1779104" y="2858290"/>
            <a:ext cx="1406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CPython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3D80E3-31D9-9013-C292-6C56C2A5F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491" y="2609569"/>
            <a:ext cx="9115425" cy="866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725F80-4237-DDDD-177A-9BB967C1290A}"/>
              </a:ext>
            </a:extLst>
          </p:cNvPr>
          <p:cNvSpPr txBox="1"/>
          <p:nvPr/>
        </p:nvSpPr>
        <p:spPr>
          <a:xfrm>
            <a:off x="1908312" y="4440194"/>
            <a:ext cx="956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PyPy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A4FC1C-99DD-D6C8-D100-BBE64F616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5491" y="4091460"/>
            <a:ext cx="9058275" cy="106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FC4074-7125-7B42-5C3D-8C8D8BB20DD8}"/>
              </a:ext>
            </a:extLst>
          </p:cNvPr>
          <p:cNvSpPr txBox="1"/>
          <p:nvPr/>
        </p:nvSpPr>
        <p:spPr>
          <a:xfrm>
            <a:off x="1873527" y="6186166"/>
            <a:ext cx="9193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 мой проект я вообще не смог запустить, из-за несовместимых библиотек</a:t>
            </a:r>
          </a:p>
        </p:txBody>
      </p:sp>
    </p:spTree>
    <p:extLst>
      <p:ext uri="{BB962C8B-B14F-4D97-AF65-F5344CB8AC3E}">
        <p14:creationId xmlns:p14="http://schemas.microsoft.com/office/powerpoint/2010/main" val="938749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221B-199D-AEB3-4CAD-F42B757C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D4141F7-2FD6-045C-A25D-3592813F1C99}"/>
              </a:ext>
            </a:extLst>
          </p:cNvPr>
          <p:cNvSpPr/>
          <p:nvPr/>
        </p:nvSpPr>
        <p:spPr>
          <a:xfrm>
            <a:off x="4658667" y="467918"/>
            <a:ext cx="5986142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100" dirty="0">
                <a:solidFill>
                  <a:schemeClr val="bg1"/>
                </a:solidFill>
              </a:rPr>
              <a:t>Нагрузочное тестирование</a:t>
            </a:r>
            <a:endParaRPr lang="en-US" sz="41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22D08A6-6192-518F-A562-4CA180B49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22FE13-AB3A-C436-2063-220E75243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308" y="1767535"/>
            <a:ext cx="11486735" cy="602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69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FF28-66B1-2754-147D-98C6FE04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6B04F97-348D-0B46-04ED-716672E1F371}"/>
              </a:ext>
            </a:extLst>
          </p:cNvPr>
          <p:cNvSpPr/>
          <p:nvPr/>
        </p:nvSpPr>
        <p:spPr>
          <a:xfrm>
            <a:off x="4370432" y="487644"/>
            <a:ext cx="6920420" cy="72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150"/>
              </a:lnSpc>
            </a:pPr>
            <a:r>
              <a:rPr lang="ru-RU" sz="4100" dirty="0">
                <a:solidFill>
                  <a:schemeClr val="bg1"/>
                </a:solidFill>
              </a:rPr>
              <a:t>Нагрузочное тестирование</a:t>
            </a:r>
            <a:endParaRPr lang="en-US" sz="4100" dirty="0">
              <a:solidFill>
                <a:schemeClr val="bg1"/>
              </a:solidFill>
            </a:endParaRPr>
          </a:p>
          <a:p>
            <a:pPr marL="0" indent="0" algn="l">
              <a:lnSpc>
                <a:spcPts val="5150"/>
              </a:lnSpc>
              <a:buNone/>
            </a:pPr>
            <a:endParaRPr lang="en-US" sz="4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1E298F4-DBC8-47CE-FDD5-3E0D1CF5D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0F5EB-546F-ECE2-51E3-C31678C7517A}"/>
              </a:ext>
            </a:extLst>
          </p:cNvPr>
          <p:cNvSpPr txBox="1"/>
          <p:nvPr/>
        </p:nvSpPr>
        <p:spPr>
          <a:xfrm>
            <a:off x="1828800" y="2335696"/>
            <a:ext cx="2872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Сервер справился с нагрузкой</a:t>
            </a:r>
            <a:r>
              <a:rPr lang="ru-RU" dirty="0">
                <a:solidFill>
                  <a:schemeClr val="bg1"/>
                </a:solidFill>
              </a:rPr>
              <a:t> (20K запросов за 59.69 сек, ~</a:t>
            </a:r>
            <a:r>
              <a:rPr lang="en-US" dirty="0">
                <a:solidFill>
                  <a:schemeClr val="bg1"/>
                </a:solidFill>
              </a:rPr>
              <a:t>335</a:t>
            </a:r>
            <a:r>
              <a:rPr lang="ru-RU" dirty="0">
                <a:solidFill>
                  <a:schemeClr val="bg1"/>
                </a:solidFill>
              </a:rPr>
              <a:t> RPS).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3B804-D120-45D0-9B7C-EE5B967570B8}"/>
              </a:ext>
            </a:extLst>
          </p:cNvPr>
          <p:cNvSpPr txBox="1"/>
          <p:nvPr/>
        </p:nvSpPr>
        <p:spPr>
          <a:xfrm>
            <a:off x="9680713" y="2335696"/>
            <a:ext cx="2007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 1 </a:t>
            </a:r>
            <a:r>
              <a:rPr lang="ru-RU" dirty="0" err="1">
                <a:solidFill>
                  <a:schemeClr val="bg1"/>
                </a:solidFill>
              </a:rPr>
              <a:t>воркере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C64AF8-0C09-900D-C9F5-28DE5A9E2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985" y="2028753"/>
            <a:ext cx="3543300" cy="1352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1BA5C1-EC5F-C4ED-8856-8FA8BC915C90}"/>
              </a:ext>
            </a:extLst>
          </p:cNvPr>
          <p:cNvSpPr txBox="1"/>
          <p:nvPr/>
        </p:nvSpPr>
        <p:spPr>
          <a:xfrm>
            <a:off x="1981200" y="4436165"/>
            <a:ext cx="2872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Сервер справился с нагрузкой</a:t>
            </a:r>
            <a:r>
              <a:rPr lang="ru-RU" dirty="0">
                <a:solidFill>
                  <a:schemeClr val="bg1"/>
                </a:solidFill>
              </a:rPr>
              <a:t> (20K запросов за 27.68 сек, ~</a:t>
            </a:r>
            <a:r>
              <a:rPr lang="en-US" dirty="0">
                <a:solidFill>
                  <a:schemeClr val="bg1"/>
                </a:solidFill>
              </a:rPr>
              <a:t>722</a:t>
            </a:r>
            <a:r>
              <a:rPr lang="ru-RU" dirty="0">
                <a:solidFill>
                  <a:schemeClr val="bg1"/>
                </a:solidFill>
              </a:rPr>
              <a:t> RPS).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3ACB3B7-752D-6433-BF45-6136066C7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437" y="4148210"/>
            <a:ext cx="3543300" cy="1400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544C60-1203-C3D9-87E1-E97AC2C4C19C}"/>
              </a:ext>
            </a:extLst>
          </p:cNvPr>
          <p:cNvSpPr txBox="1"/>
          <p:nvPr/>
        </p:nvSpPr>
        <p:spPr>
          <a:xfrm>
            <a:off x="9690652" y="4436165"/>
            <a:ext cx="2484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 4 </a:t>
            </a:r>
            <a:r>
              <a:rPr lang="ru-RU" dirty="0" err="1">
                <a:solidFill>
                  <a:schemeClr val="bg1"/>
                </a:solidFill>
              </a:rPr>
              <a:t>воркерах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11518-4AC0-617C-D385-5C061F072783}"/>
              </a:ext>
            </a:extLst>
          </p:cNvPr>
          <p:cNvSpPr txBox="1"/>
          <p:nvPr/>
        </p:nvSpPr>
        <p:spPr>
          <a:xfrm>
            <a:off x="3925956" y="6366634"/>
            <a:ext cx="6162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Дальше были совсем не значительные приросты в скорости, в пике у меня получилось 770 </a:t>
            </a:r>
            <a:r>
              <a:rPr lang="en-US" dirty="0">
                <a:solidFill>
                  <a:schemeClr val="bg1"/>
                </a:solidFill>
              </a:rPr>
              <a:t>RPS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419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CAE47-D133-EE9F-DC58-4188000D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A430E6E-E13C-7AE6-494E-1E9F46562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32" y="7692498"/>
            <a:ext cx="1819275" cy="467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5BE543-A12D-08B8-AA02-F6E91E97EDAD}"/>
              </a:ext>
            </a:extLst>
          </p:cNvPr>
          <p:cNvSpPr txBox="1"/>
          <p:nvPr/>
        </p:nvSpPr>
        <p:spPr>
          <a:xfrm>
            <a:off x="2564296" y="3091071"/>
            <a:ext cx="11042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dirty="0"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34779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1016</Words>
  <Application>Microsoft Office PowerPoint</Application>
  <PresentationFormat>Произвольный</PresentationFormat>
  <Paragraphs>210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7" baseType="lpstr">
      <vt:lpstr>Roboto Mono Medium</vt:lpstr>
      <vt:lpstr>Arial</vt:lpstr>
      <vt:lpstr>Roboto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Edward Osipchuk</cp:lastModifiedBy>
  <cp:revision>5</cp:revision>
  <dcterms:created xsi:type="dcterms:W3CDTF">2025-06-21T14:46:46Z</dcterms:created>
  <dcterms:modified xsi:type="dcterms:W3CDTF">2025-06-22T19:30:12Z</dcterms:modified>
</cp:coreProperties>
</file>